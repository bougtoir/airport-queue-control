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1</a:t>
            </a:r>
          </a:p>
        </p:txBody>
      </p:sp>
      <p:pic>
        <p:nvPicPr>
          <p:cNvPr id="3" name="Picture 2" descr="figure_01_concep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3777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Conceptual control architecture; diagrams are generic and not site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2</a:t>
            </a:r>
          </a:p>
        </p:txBody>
      </p:sp>
      <p:pic>
        <p:nvPicPr>
          <p:cNvPr id="3" name="Picture 2" descr="figure_02_trajectories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39452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One common-seed realization; movement endpoints are modeled locomotion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3</a:t>
            </a:r>
          </a:p>
        </p:txBody>
      </p:sp>
      <p:pic>
        <p:nvPicPr>
          <p:cNvPr id="3" name="Picture 2" descr="figure_03_movement_by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6680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Model-dependent mean movement starts and 95% Monte Carlo intervals; S3 has one start by construction under the specified progression 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4</a:t>
            </a:r>
          </a:p>
        </p:txBody>
      </p:sp>
      <p:pic>
        <p:nvPicPr>
          <p:cNvPr id="3" name="Picture 2" descr="figure_04_contro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34153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S3/B1 designs at load 0.95; endpoints remain separate rather than weighted.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5</a:t>
            </a:r>
          </a:p>
        </p:txBody>
      </p:sp>
      <p:pic>
        <p:nvPicPr>
          <p:cNvPr id="3" name="Picture 2" descr="figure_05_spac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44368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Phase 3 generic geometry screen averaged across seeds and footprint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6</a:t>
            </a:r>
          </a:p>
        </p:txBody>
      </p:sp>
      <p:pic>
        <p:nvPicPr>
          <p:cNvPr id="3" name="Picture 2" descr="figure_06_pareto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48417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All evaluated designs are circles: x is mean wait, y is conditional required waiting area, monotonic-lightness color is modeled starts/passenger, and marker area is throughput. The eight nondominated designs are black-edged diamonds and their normalized objective profiles are shown at right; all share one modeled start/passenger under the current progression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7</a:t>
            </a:r>
          </a:p>
        </p:txBody>
      </p:sp>
      <p:pic>
        <p:nvPicPr>
          <p:cNvPr id="3" name="Picture 2" descr="figure_07_pha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80356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All cells improve movement starts; the acceptability threshold is −0.02.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S1</a:t>
            </a:r>
          </a:p>
        </p:txBody>
      </p:sp>
      <p:pic>
        <p:nvPicPr>
          <p:cNvPr id="3" name="Picture 2" descr="supplement_01_arrival_servic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5434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Phase 8 paired throughput lower bounds.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S2</a:t>
            </a:r>
          </a:p>
        </p:txBody>
      </p:sp>
      <p:pic>
        <p:nvPicPr>
          <p:cNvPr id="3" name="Picture 2" descr="supplement_02_compliance_gate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54434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Phase 8 paired throughput lower bounds.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S3</a:t>
            </a:r>
          </a:p>
        </p:txBody>
      </p:sp>
      <p:pic>
        <p:nvPicPr>
          <p:cNvPr id="3" name="Picture 2" descr="supplement_03_footprint_acces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54457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Generic geometry sensitivity; accessibility minima remain constraints.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S4</a:t>
            </a:r>
          </a:p>
        </p:txBody>
      </p:sp>
      <p:pic>
        <p:nvPicPr>
          <p:cNvPr id="3" name="Picture 2" descr="supplement_04_row_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54434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Generic geometry sensitivity; accessibility minima remain constraints.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S5</a:t>
            </a:r>
          </a:p>
        </p:txBody>
      </p:sp>
      <p:pic>
        <p:nvPicPr>
          <p:cNvPr id="3" name="Picture 2" descr="supplement_05_falsific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6340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Proxy criteria are engineering screens, not validated safety thresholds.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S6</a:t>
            </a:r>
          </a:p>
        </p:txBody>
      </p:sp>
      <p:pic>
        <p:nvPicPr>
          <p:cNvPr id="3" name="Picture 2" descr="supplement_06_multiple_geome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48276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Finite benchmark results do not establish universal transferability.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Figure S7</a:t>
            </a:r>
          </a:p>
        </p:txBody>
      </p:sp>
      <p:pic>
        <p:nvPicPr>
          <p:cNvPr id="3" name="Picture 2" descr="supplement_07_full_movement_end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1064240" cy="7722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Complete movement endpoint panel. Starts and stops are model-dependent dynamic outcomes; distance and turning are structural route outcomes. Means and 95% Monte Carlo intervals are shown.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